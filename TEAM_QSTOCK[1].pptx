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dhu sarDHI" initials="ps" lastIdx="1" clrIdx="0">
    <p:extLst>
      <p:ext uri="{19B8F6BF-5375-455C-9EA6-DF929625EA0E}">
        <p15:presenceInfo xmlns:p15="http://schemas.microsoft.com/office/powerpoint/2012/main" userId="3b3de9772a8fb4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50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19671" y="376393"/>
            <a:ext cx="7326630" cy="72635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Amaravati Quantum Valley 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65941"/>
            <a:ext cx="9016082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000" dirty="0">
                <a:solidFill>
                  <a:srgbClr val="FF0000"/>
                </a:solidFill>
              </a:rPr>
              <a:t>AQVH917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Quantum model 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        for index movement prediction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000" b="1" dirty="0">
                <a:solidFill>
                  <a:srgbClr val="FF0000"/>
                </a:solidFill>
              </a:rPr>
              <a:t>Quantum ML: FTSE 100 Forecasting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TEAM Q-STOCK</a:t>
            </a:r>
            <a:endParaRPr lang="en-I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AEEB1-E7BA-82E6-83CB-25556EF81E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11" t="20049" r="21889" b="12417"/>
          <a:stretch>
            <a:fillRect/>
          </a:stretch>
        </p:blipFill>
        <p:spPr>
          <a:xfrm>
            <a:off x="6968696" y="2116888"/>
            <a:ext cx="2513346" cy="2876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B7E12-24C5-0C70-AC91-944DA1AB2B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1067204" cy="1479479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dirty="0"/>
              <a:t>Quantum Machine Learning for FTSE 100 Forecasting Using VQC</a:t>
            </a:r>
            <a:endParaRPr lang="en-US" sz="4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397284" y="1551398"/>
            <a:ext cx="11318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3"/>
            <a:r>
              <a:rPr lang="en-US" sz="2800" dirty="0"/>
              <a:t>1  .We propose a </a:t>
            </a:r>
            <a:r>
              <a:rPr lang="en-US" sz="2800" b="1" dirty="0"/>
              <a:t>Quantum Machine Learning (QML)</a:t>
            </a:r>
            <a:r>
              <a:rPr lang="en-US" sz="2800" dirty="0"/>
              <a:t> solution to predict 	the </a:t>
            </a:r>
            <a:r>
              <a:rPr lang="en-US" sz="2800" b="1" dirty="0"/>
              <a:t>future direction of the FTSE 100 stock index</a:t>
            </a:r>
            <a:r>
              <a:rPr lang="en-US" sz="2800" dirty="0"/>
              <a:t> using a </a:t>
            </a:r>
            <a:r>
              <a:rPr lang="en-US" sz="2800" b="1" dirty="0"/>
              <a:t>Variational 	Quantum Classifier (VQC)</a:t>
            </a:r>
          </a:p>
          <a:p>
            <a:pPr marL="1885950" lvl="3" indent="-514350">
              <a:buAutoNum type="arabicPeriod" startAt="2"/>
            </a:pPr>
            <a:r>
              <a:rPr lang="en-US" sz="2800" dirty="0"/>
              <a:t>The model uses historical stock data (such as returns and moving   	averages) to forecast whether the market will go </a:t>
            </a:r>
            <a:r>
              <a:rPr lang="en-US" sz="2800" b="1" dirty="0"/>
              <a:t>up</a:t>
            </a:r>
            <a:r>
              <a:rPr lang="en-US" sz="2800" dirty="0"/>
              <a:t> or </a:t>
            </a:r>
            <a:r>
              <a:rPr lang="en-US" sz="2800" b="1" dirty="0"/>
              <a:t>down</a:t>
            </a:r>
            <a:r>
              <a:rPr lang="en-US" sz="2800" dirty="0"/>
              <a:t> the 	following day.</a:t>
            </a:r>
          </a:p>
          <a:p>
            <a:pPr marL="1885950" lvl="3" indent="-514350">
              <a:buAutoNum type="arabicPeriod" startAt="2"/>
            </a:pPr>
            <a:r>
              <a:rPr lang="en-US" sz="2800" dirty="0"/>
              <a:t>This project is an </a:t>
            </a:r>
            <a:r>
              <a:rPr lang="en-US" sz="2800" b="1" dirty="0"/>
              <a:t>early step toward applying quantum computing in </a:t>
            </a:r>
            <a:r>
              <a:rPr lang="en-US" sz="2800" b="1" dirty="0" err="1"/>
              <a:t>finance</a:t>
            </a:r>
            <a:r>
              <a:rPr lang="en-US" sz="2800" dirty="0" err="1"/>
              <a:t>,</a:t>
            </a:r>
            <a:r>
              <a:rPr lang="en-US" sz="2800" b="1" dirty="0" err="1"/>
              <a:t>QML</a:t>
            </a:r>
            <a:r>
              <a:rPr lang="en-US" sz="2800" b="1" dirty="0"/>
              <a:t> can be explored in real use cases like stock market forecasting</a:t>
            </a:r>
            <a:r>
              <a:rPr lang="en-US" sz="2800" dirty="0"/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0805" y="24258"/>
            <a:ext cx="1360743" cy="8272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  <a:r>
              <a:rPr lang="en-US" dirty="0" err="1"/>
              <a:t>QStock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8F95B-1959-015C-AA1B-1B0A286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  <a:r>
              <a:rPr lang="en-US" dirty="0" err="1"/>
              <a:t>Qstock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D3A41-DA02-7039-DCFD-C367F543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782D7F0-C928-43EF-97D2-85E0DAF3C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829578"/>
              </p:ext>
            </p:extLst>
          </p:nvPr>
        </p:nvGraphicFramePr>
        <p:xfrm>
          <a:off x="1752600" y="719666"/>
          <a:ext cx="81689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916">
                  <a:extLst>
                    <a:ext uri="{9D8B030D-6E8A-4147-A177-3AD203B41FA5}">
                      <a16:colId xmlns:a16="http://schemas.microsoft.com/office/drawing/2014/main" val="3355209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3864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747FEA8-9CE2-4E4B-8FE2-752D82053748}"/>
              </a:ext>
            </a:extLst>
          </p:cNvPr>
          <p:cNvSpPr txBox="1"/>
          <p:nvPr/>
        </p:nvSpPr>
        <p:spPr>
          <a:xfrm>
            <a:off x="838200" y="1846639"/>
            <a:ext cx="1113291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 We used </a:t>
            </a:r>
            <a:r>
              <a:rPr lang="en-US" sz="2400" b="1" dirty="0"/>
              <a:t>Python</a:t>
            </a:r>
            <a:r>
              <a:rPr lang="en-US" sz="2400" dirty="0"/>
              <a:t> with the </a:t>
            </a:r>
            <a:r>
              <a:rPr lang="en-US" sz="2400" b="1" dirty="0" err="1"/>
              <a:t>Qiskit</a:t>
            </a:r>
            <a:r>
              <a:rPr lang="en-US" sz="2400" b="1" dirty="0"/>
              <a:t> Machine Learning</a:t>
            </a:r>
            <a:r>
              <a:rPr lang="en-US" sz="2400" dirty="0"/>
              <a:t> framework to implement a 	</a:t>
            </a:r>
            <a:r>
              <a:rPr lang="en-US" sz="2400" b="1" dirty="0"/>
              <a:t>Variational Quantum Classifier (VQC)</a:t>
            </a:r>
            <a:r>
              <a:rPr lang="en-US" sz="2400" dirty="0"/>
              <a:t> for predicting FTSE 100 market direction2</a:t>
            </a:r>
          </a:p>
          <a:p>
            <a:r>
              <a:rPr lang="en-US" sz="2400" dirty="0"/>
              <a:t>2.	Data was sourced from </a:t>
            </a:r>
            <a:r>
              <a:rPr lang="en-US" sz="2400" b="1" dirty="0"/>
              <a:t>Yahoo Finance</a:t>
            </a:r>
            <a:r>
              <a:rPr lang="en-US" sz="2400" dirty="0"/>
              <a:t>, and features like return and moving averages  	were engineered using </a:t>
            </a:r>
            <a:r>
              <a:rPr lang="en-US" sz="2400" b="1" dirty="0"/>
              <a:t>pandas</a:t>
            </a:r>
            <a:r>
              <a:rPr lang="en-US" sz="2400" dirty="0"/>
              <a:t> and </a:t>
            </a:r>
            <a:r>
              <a:rPr lang="en-US" sz="2400" b="1" dirty="0"/>
              <a:t>NumPy</a:t>
            </a:r>
            <a:r>
              <a:rPr lang="en-US" sz="2400" dirty="0"/>
              <a:t>.</a:t>
            </a:r>
          </a:p>
          <a:p>
            <a:r>
              <a:rPr lang="en-US" sz="2400" dirty="0"/>
              <a:t>3.	The model was trained and tested using </a:t>
            </a:r>
            <a:r>
              <a:rPr lang="en-US" sz="2400" b="1" dirty="0" err="1"/>
              <a:t>Qiskit’s</a:t>
            </a:r>
            <a:r>
              <a:rPr lang="en-US" sz="2400" b="1" dirty="0"/>
              <a:t> </a:t>
            </a:r>
            <a:r>
              <a:rPr lang="en-US" sz="2400" b="1" dirty="0" err="1"/>
              <a:t>AerSimulator</a:t>
            </a:r>
            <a:r>
              <a:rPr lang="en-US" sz="2400" dirty="0"/>
              <a:t> backend. We split the 	data, encoded it into quantum states using a </a:t>
            </a:r>
            <a:r>
              <a:rPr lang="en-US" sz="2400" b="1" dirty="0"/>
              <a:t>feature map</a:t>
            </a:r>
            <a:r>
              <a:rPr lang="en-US" sz="2400" dirty="0"/>
              <a:t>, and trained a quantum 	circuit (ansatz) optimized using </a:t>
            </a:r>
            <a:r>
              <a:rPr lang="en-US" sz="2400" b="1" dirty="0"/>
              <a:t>COBYLA</a:t>
            </a:r>
            <a:r>
              <a:rPr lang="en-US" sz="2400" dirty="0"/>
              <a:t>. The performance was evaluated using 	</a:t>
            </a:r>
            <a:r>
              <a:rPr lang="en-US" sz="2400" b="1" dirty="0"/>
              <a:t>scikit-learn</a:t>
            </a:r>
            <a:r>
              <a:rPr lang="en-US" sz="2400" dirty="0"/>
              <a:t>, and an optional </a:t>
            </a:r>
            <a:r>
              <a:rPr lang="en-US" sz="2400" b="1" dirty="0" err="1"/>
              <a:t>Streamlit</a:t>
            </a:r>
            <a:r>
              <a:rPr lang="en-US" sz="2400" b="1" dirty="0"/>
              <a:t> UI</a:t>
            </a:r>
            <a:r>
              <a:rPr lang="en-US" sz="2400" dirty="0"/>
              <a:t> was developed to visualize the predictions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332752"/>
            <a:ext cx="10972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The idea is feasible as a working prototype using current quantum simulators like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Qiskit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, making it suitable for small-scale financial forecasting tasks.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Limited qubit capacity, slow simulation speed, and the complexity of financial data pose challenges, along with the steep learning curve of quantum machine learning.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Use feature reduction, hybrid quantum-classical models, simulators for development, and validate with classical benchmarks to address hardware and data limitations.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 err="1"/>
              <a:t>Qstock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66F5-EDE2-6F69-6A26-6FEC7B6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95246"/>
            <a:ext cx="11544727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/>
              <a:t>Enables financial analysts and traders to leverage emerging quantum technologies for more accurate and efficient market direction predictions, paving the way for smarter investment decisions.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/>
              <a:t>Empowers financial analysts and traders to harness cutting-edge quantum technologies for more accurate and efficient market direction predictions, enabling smarter and data-driven investment decisions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  <a:r>
              <a:rPr lang="en-US" dirty="0" err="1"/>
              <a:t>Qstock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876C-4511-C633-ABA1-E871E202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65464" y="1088889"/>
            <a:ext cx="986107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</a:t>
            </a:r>
            <a:r>
              <a:rPr lang="en-US" sz="2800" dirty="0"/>
              <a:t> Quantum ML is still </a:t>
            </a:r>
            <a:r>
              <a:rPr lang="en-US" sz="2800" b="1" dirty="0"/>
              <a:t>experimental</a:t>
            </a:r>
            <a:r>
              <a:rPr lang="en-US" sz="2800" dirty="0"/>
              <a:t>, but it shows potential for 	</a:t>
            </a:r>
            <a:r>
              <a:rPr lang="en-US" sz="2800" b="1" dirty="0"/>
              <a:t>faster training and handling high-dimensional data</a:t>
            </a:r>
            <a:r>
              <a:rPr lang="en-US" sz="2800" dirty="0"/>
              <a:t>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</a:t>
            </a:r>
            <a:r>
              <a:rPr lang="en-US" sz="2800" dirty="0"/>
              <a:t> The FTSE 100 was chosen because it is a </a:t>
            </a:r>
            <a:r>
              <a:rPr lang="en-US" sz="2800" b="1" dirty="0"/>
              <a:t>major benchmark 	index</a:t>
            </a:r>
            <a:r>
              <a:rPr lang="en-US" sz="2800" dirty="0"/>
              <a:t>, representing the top 100 companies in the London Stock 	Exchange.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en-US" sz="2800" dirty="0"/>
              <a:t> The combination of </a:t>
            </a:r>
            <a:r>
              <a:rPr lang="en-US" sz="2800" b="1" dirty="0"/>
              <a:t>classical (Yahoo Finance data)</a:t>
            </a:r>
            <a:r>
              <a:rPr lang="en-US" sz="2800" dirty="0"/>
              <a:t> and </a:t>
            </a:r>
            <a:r>
              <a:rPr lang="en-US" sz="2800" b="1" dirty="0"/>
              <a:t>quantum approaches (</a:t>
            </a:r>
            <a:r>
              <a:rPr lang="en-US" sz="2800" b="1" dirty="0" err="1"/>
              <a:t>Qiskit</a:t>
            </a:r>
            <a:r>
              <a:rPr lang="en-US" sz="2800" b="1" dirty="0"/>
              <a:t> + VQC)</a:t>
            </a:r>
            <a:r>
              <a:rPr lang="en-US" sz="2800" dirty="0"/>
              <a:t> shows how </a:t>
            </a:r>
            <a:r>
              <a:rPr lang="en-US" sz="2800" b="1" dirty="0"/>
              <a:t>hybrid quantum-classical models</a:t>
            </a:r>
            <a:r>
              <a:rPr lang="en-US" sz="2800" dirty="0"/>
              <a:t> can be applied to real-world finance problems.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  <a:r>
              <a:rPr lang="en-US" dirty="0" err="1"/>
              <a:t>Qstock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DC83C-9ECF-FAF0-BC44-AF675FB6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-1270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1945EF-267E-4BB1-DDB8-3547C29D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8014</TotalTime>
  <Words>643</Words>
  <Application>Microsoft Office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Office Theme</vt:lpstr>
      <vt:lpstr>Amaravati Quantum Valley  Hackathon 2025</vt:lpstr>
      <vt:lpstr> Quantum Machine Learning for FTSE 100 Forecasting Using VQC</vt:lpstr>
      <vt:lpstr>TECHNICAL APPROACH</vt:lpstr>
      <vt:lpstr>FEASIBILITY AND VIABILITY</vt:lpstr>
      <vt:lpstr>IMPACT AND BENEFITS</vt:lpstr>
      <vt:lpstr>Conclusion 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pardhu sarDHI</cp:lastModifiedBy>
  <cp:revision>156</cp:revision>
  <dcterms:created xsi:type="dcterms:W3CDTF">2013-12-12T18:46:50Z</dcterms:created>
  <dcterms:modified xsi:type="dcterms:W3CDTF">2025-08-29T11:18:24Z</dcterms:modified>
  <cp:category/>
</cp:coreProperties>
</file>